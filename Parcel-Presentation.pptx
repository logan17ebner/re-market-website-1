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8B1C1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99943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the market before you make a move.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11183112" cy="18288"/>
          </a:xfrm>
          <a:prstGeom prst="rect">
            <a:avLst/>
          </a:prstGeom>
          <a:solidFill>
            <a:srgbClr val="DDD5C5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7432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RESIDENTIAL MARKET INTELLIGENCE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08276" y="3383280"/>
            <a:ext cx="2377440" cy="320040"/>
          </a:xfrm>
          <a:prstGeom prst="roundRect">
            <a:avLst>
              <a:gd name="adj" fmla="val 51429"/>
            </a:avLst>
          </a:prstGeom>
          <a:solidFill>
            <a:srgbClr val="F9E8E7"/>
          </a:solidFill>
          <a:ln w="9525">
            <a:solidFill>
              <a:srgbClr val="8B1C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08276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1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ZILLOW + FRED DATA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05756" y="3383280"/>
            <a:ext cx="2377440" cy="320040"/>
          </a:xfrm>
          <a:prstGeom prst="roundRect">
            <a:avLst>
              <a:gd name="adj" fmla="val 51429"/>
            </a:avLst>
          </a:prstGeom>
          <a:solidFill>
            <a:srgbClr val="EDEAE5"/>
          </a:solidFill>
          <a:ln w="9525">
            <a:solidFill>
              <a:srgbClr val="1A15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5756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50-STATE COVERAGE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603236" y="3383280"/>
            <a:ext cx="2377440" cy="320040"/>
          </a:xfrm>
          <a:prstGeom prst="roundRect">
            <a:avLst>
              <a:gd name="adj" fmla="val 51429"/>
            </a:avLst>
          </a:prstGeom>
          <a:solidFill>
            <a:srgbClr val="E6F2EB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3236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LOCAL INSIGHTS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Zillow Research (ZHVI/ZORI) · FRED St. Louis Fed · World Bank · Anthropic Claude API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8B1C1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— and the Answer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0120"/>
            <a:ext cx="64008" cy="2377440"/>
          </a:xfrm>
          <a:prstGeom prst="rect">
            <a:avLst/>
          </a:prstGeom>
          <a:solidFill>
            <a:srgbClr val="8B1C1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241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C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Seekers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447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Fragmented data — Zillow, Redfin, and news are all separate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understand if a local market is actually affordable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3113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clear view of price trends or where a market is heading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to compare one neighborhood to another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474720"/>
            <a:ext cx="64008" cy="2377440"/>
          </a:xfrm>
          <a:prstGeom prst="rect">
            <a:avLst/>
          </a:prstGeom>
          <a:solidFill>
            <a:srgbClr val="B478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38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Analysts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9593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fast way to screen multiple US markets at once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Rental yield and cap rate data scattered across paid platforms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74573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Comparable market analysis requires expensive subscriptions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51389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sentiment and news not integrated with hard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9601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5F0E8"/>
          </a:solidFill>
          <a:ln w="9525">
            <a:solidFill>
              <a:srgbClr val="8B1C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960120"/>
            <a:ext cx="5394960" cy="457200"/>
          </a:xfrm>
          <a:prstGeom prst="rect">
            <a:avLst/>
          </a:prstGeom>
          <a:solidFill>
            <a:srgbClr val="8B1C13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960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Parcel Solves 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0528" y="1664208"/>
            <a:ext cx="137160" cy="13716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23" name="Text 21"/>
          <p:cNvSpPr/>
          <p:nvPr/>
        </p:nvSpPr>
        <p:spPr>
          <a:xfrm>
            <a:off x="6739128" y="157276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Zillow ZHVI/ZORI — Real median home values and rent, updated monthly for every US metro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10528" y="2240280"/>
            <a:ext cx="137160" cy="13716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25" name="Text 23"/>
          <p:cNvSpPr/>
          <p:nvPr/>
        </p:nvSpPr>
        <p:spPr>
          <a:xfrm>
            <a:off x="6739128" y="2148840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Mortgage Data — 30-year fixed rate, Case-Shiller HPI, and housing starts updated weekly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10528" y="2816352"/>
            <a:ext cx="137160" cy="13716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27" name="Text 25"/>
          <p:cNvSpPr/>
          <p:nvPr/>
        </p:nvSpPr>
        <p:spPr>
          <a:xfrm>
            <a:off x="6739128" y="2724912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Local Intelligence — Claude searches recent news and RE firm reports for city-specific insights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10528" y="3392424"/>
            <a:ext cx="137160" cy="13716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29" name="Text 27"/>
          <p:cNvSpPr/>
          <p:nvPr/>
        </p:nvSpPr>
        <p:spPr>
          <a:xfrm>
            <a:off x="6739128" y="3300984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Markets — 55 US cities benchmarked by city class, no international noise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10528" y="3968496"/>
            <a:ext cx="137160" cy="13716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31" name="Text 29"/>
          <p:cNvSpPr/>
          <p:nvPr/>
        </p:nvSpPr>
        <p:spPr>
          <a:xfrm>
            <a:off x="6739128" y="3877056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Sub-Market Breakdown — Neighborhood-level price estimates for 16 major metros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10528" y="4544568"/>
            <a:ext cx="137160" cy="13716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33" name="Text 31"/>
          <p:cNvSpPr/>
          <p:nvPr/>
        </p:nvSpPr>
        <p:spPr>
          <a:xfrm>
            <a:off x="6739128" y="445312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— Fetch two city reports and compare every metric head-to-head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5120640"/>
            <a:ext cx="137160" cy="13716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35" name="Text 33"/>
          <p:cNvSpPr/>
          <p:nvPr/>
        </p:nvSpPr>
        <p:spPr>
          <a:xfrm>
            <a:off x="6739128" y="5029200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— Download a formatted report with only the sections you have toggled 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8B1C1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&amp; Technology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2692908" cy="1691640"/>
          </a:xfrm>
          <a:prstGeom prst="roundRect">
            <a:avLst>
              <a:gd name="adj" fmla="val 4324"/>
            </a:avLst>
          </a:prstGeom>
          <a:solidFill>
            <a:srgbClr val="F5F0E8"/>
          </a:solidFill>
          <a:ln w="9525">
            <a:solidFill>
              <a:srgbClr val="8B1C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90472"/>
            <a:ext cx="384048" cy="384048"/>
          </a:xfrm>
          <a:prstGeom prst="ellipse">
            <a:avLst/>
          </a:prstGeom>
          <a:solidFill>
            <a:srgbClr val="8B1C1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1947672"/>
            <a:ext cx="25100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2286000"/>
            <a:ext cx="2510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any US city — Nominatim geocoding returns verified lat/lon and state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4972" y="1901952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1C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2988" y="1353312"/>
            <a:ext cx="2692908" cy="1691640"/>
          </a:xfrm>
          <a:prstGeom prst="roundRect">
            <a:avLst>
              <a:gd name="adj" fmla="val 4324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0148" y="1490472"/>
            <a:ext cx="384048" cy="384048"/>
          </a:xfrm>
          <a:prstGeom prst="ellipse">
            <a:avLst/>
          </a:prstGeom>
          <a:solidFill>
            <a:srgbClr val="DDD5C5"/>
          </a:solidFill>
          <a:ln/>
        </p:spPr>
      </p:sp>
      <p:sp>
        <p:nvSpPr>
          <p:cNvPr id="14" name="Text 12"/>
          <p:cNvSpPr/>
          <p:nvPr/>
        </p:nvSpPr>
        <p:spPr>
          <a:xfrm>
            <a:off x="3470148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E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2716" y="1947672"/>
            <a:ext cx="25100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Fetch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2716" y="2286000"/>
            <a:ext cx="2510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CSV, FRED API, World Bank, and Claude web search run in parallel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35040" y="1901952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1C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63056" y="1353312"/>
            <a:ext cx="2692908" cy="1691640"/>
          </a:xfrm>
          <a:prstGeom prst="roundRect">
            <a:avLst>
              <a:gd name="adj" fmla="val 4324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1490472"/>
            <a:ext cx="384048" cy="384048"/>
          </a:xfrm>
          <a:prstGeom prst="ellipse">
            <a:avLst/>
          </a:prstGeom>
          <a:solidFill>
            <a:srgbClr val="DDD5C5"/>
          </a:solidFill>
          <a:ln/>
        </p:spPr>
      </p:sp>
      <p:sp>
        <p:nvSpPr>
          <p:cNvPr id="20" name="Text 18"/>
          <p:cNvSpPr/>
          <p:nvPr/>
        </p:nvSpPr>
        <p:spPr>
          <a:xfrm>
            <a:off x="6300216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E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72784" y="1947672"/>
            <a:ext cx="25100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Build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2286000"/>
            <a:ext cx="2510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computed, comps matched by city class, insights generated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865108" y="1901952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1C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93124" y="1353312"/>
            <a:ext cx="2692908" cy="1691640"/>
          </a:xfrm>
          <a:prstGeom prst="roundRect">
            <a:avLst>
              <a:gd name="adj" fmla="val 4324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0284" y="1490472"/>
            <a:ext cx="384048" cy="384048"/>
          </a:xfrm>
          <a:prstGeom prst="ellipse">
            <a:avLst/>
          </a:prstGeom>
          <a:solidFill>
            <a:srgbClr val="DDD5C5"/>
          </a:solidFill>
          <a:ln/>
        </p:spPr>
      </p:sp>
      <p:sp>
        <p:nvSpPr>
          <p:cNvPr id="26" name="Text 24"/>
          <p:cNvSpPr/>
          <p:nvPr/>
        </p:nvSpPr>
        <p:spPr>
          <a:xfrm>
            <a:off x="9130284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E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02852" y="1947672"/>
            <a:ext cx="25100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Report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02852" y="2286000"/>
            <a:ext cx="25100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with toggleable sections, source popovers, and PDF export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182112"/>
            <a:ext cx="11183112" cy="18288"/>
          </a:xfrm>
          <a:prstGeom prst="rect">
            <a:avLst/>
          </a:prstGeom>
          <a:solidFill>
            <a:srgbClr val="DDD5C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675888"/>
            <a:ext cx="2555748" cy="749808"/>
          </a:xfrm>
          <a:prstGeom prst="roundRect">
            <a:avLst>
              <a:gd name="adj" fmla="val 9756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767328"/>
            <a:ext cx="23271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" y="40782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TypeScript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78708" y="3675888"/>
            <a:ext cx="2555748" cy="749808"/>
          </a:xfrm>
          <a:prstGeom prst="roundRect">
            <a:avLst>
              <a:gd name="adj" fmla="val 9756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6724" y="3767328"/>
            <a:ext cx="23271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06724" y="40782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54496" y="3675888"/>
            <a:ext cx="2555748" cy="749808"/>
          </a:xfrm>
          <a:prstGeom prst="roundRect">
            <a:avLst>
              <a:gd name="adj" fmla="val 9756"/>
            </a:avLst>
          </a:prstGeom>
          <a:solidFill>
            <a:srgbClr val="F5F0E8"/>
          </a:solidFill>
          <a:ln w="9525">
            <a:solidFill>
              <a:srgbClr val="D4A0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3767328"/>
            <a:ext cx="23271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Research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82512" y="40782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ZHVI · ZORI live CSVs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130284" y="3675888"/>
            <a:ext cx="2555748" cy="749808"/>
          </a:xfrm>
          <a:prstGeom prst="roundRect">
            <a:avLst>
              <a:gd name="adj" fmla="val 9756"/>
            </a:avLst>
          </a:prstGeom>
          <a:solidFill>
            <a:srgbClr val="F5F0E8"/>
          </a:solidFill>
          <a:ln w="9525">
            <a:solidFill>
              <a:srgbClr val="D4A0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58300" y="3767328"/>
            <a:ext cx="23271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58300" y="40782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Louis Fed — live rates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2920" y="4553712"/>
            <a:ext cx="2555748" cy="749808"/>
          </a:xfrm>
          <a:prstGeom prst="roundRect">
            <a:avLst>
              <a:gd name="adj" fmla="val 9756"/>
            </a:avLst>
          </a:prstGeom>
          <a:solidFill>
            <a:srgbClr val="F5F0E8"/>
          </a:solidFill>
          <a:ln w="9525">
            <a:solidFill>
              <a:srgbClr val="D4A09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" y="4645152"/>
            <a:ext cx="23271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API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" y="4956048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GDP · inflation data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78708" y="4553712"/>
            <a:ext cx="2555748" cy="749808"/>
          </a:xfrm>
          <a:prstGeom prst="roundRect">
            <a:avLst>
              <a:gd name="adj" fmla="val 9756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06724" y="4645152"/>
            <a:ext cx="23271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06724" y="4956048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· local insights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54496" y="4553712"/>
            <a:ext cx="2555748" cy="749808"/>
          </a:xfrm>
          <a:prstGeom prst="roundRect">
            <a:avLst>
              <a:gd name="adj" fmla="val 9756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4645152"/>
            <a:ext cx="23271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/ html2canvas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82512" y="4956048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130284" y="4553712"/>
            <a:ext cx="2555748" cy="749808"/>
          </a:xfrm>
          <a:prstGeom prst="roundRect">
            <a:avLst>
              <a:gd name="adj" fmla="val 9756"/>
            </a:avLst>
          </a:prstGeom>
          <a:solidFill>
            <a:srgbClr val="F5F0E8"/>
          </a:solidFill>
          <a:ln w="9525">
            <a:solidFill>
              <a:srgbClr val="DDD5C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58300" y="4645152"/>
            <a:ext cx="23271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258300" y="4956048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CDN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Claude Code — Anthropic's AI-assisted CLI for software engineering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2026-04-21T00:10:08Z</dcterms:created>
  <dcterms:modified xsi:type="dcterms:W3CDTF">2026-04-21T00:10:08Z</dcterms:modified>
</cp:coreProperties>
</file>